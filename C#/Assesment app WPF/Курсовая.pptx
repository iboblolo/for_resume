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5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5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0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1.png" ContentType="image/png"/>
  <Override PartName="/ppt/media/image2.jpeg" ContentType="image/jpeg"/>
  <Override PartName="/ppt/media/image12.png" ContentType="image/png"/>
  <Override PartName="/ppt/media/image7.png" ContentType="image/png"/>
  <Override PartName="/ppt/media/image3.jpeg" ContentType="image/jpeg"/>
  <Override PartName="/ppt/media/image11.png" ContentType="image/png"/>
  <Override PartName="/ppt/media/image6.png" ContentType="image/png"/>
  <Override PartName="/ppt/media/image5.png" ContentType="image/png"/>
  <Override PartName="/ppt/media/image10.png" ContentType="image/png"/>
  <Override PartName="/ppt/media/image4.jpeg" ContentType="image/jpeg"/>
  <Override PartName="/ppt/media/image18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53E2DB-4474-4E59-9C06-240213B44D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64F5AA-BBD0-488B-9223-62BAFD352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D95C6C-9FD9-417C-8BC2-AE4F5669FD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102136-4195-4F5F-B108-F51252A3A8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DBA264-614A-4180-9806-EA3498B074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005104-E0C4-4A06-9762-D8A35AC723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12D1EC-0A80-4783-8693-9507BA596E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AC0F8-CCF0-446A-BCBF-B56326D453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BB4C30-8CED-40A3-981C-418E2388D3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A76820-B4C8-442F-B40F-0312BD4567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465386-A05E-4723-87B3-21807D8C0C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BE3B9C-5D93-4DA5-B079-A7B970E7BD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89226C-B094-4F25-986A-EA162302E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1BA888-7BD1-4B93-A95B-EC2781BB0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DF2384-69CC-4D06-992A-083B2918E0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0DAB92-9A52-41C9-B1BE-CED593AA49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63269E-DA3B-4A42-81FA-0478A540C8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75FB4A2-3262-40D6-99CB-4A47FCF634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0D1AF6-F99E-40A8-A76D-0B986AE2F2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D3E046-44AB-41D7-95C2-932B6E61BC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A89CA6-70D5-495A-B010-D91BC1F42E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CD49B5-3724-49B5-80E3-500B808391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E10F9D-41D7-4CFD-8116-CE3793ACDA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919F01-89C2-4158-AA7A-7B5EF1E8B2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46A699C-87F4-4425-ACB4-55A7B29DFA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ED76D5-46D5-445A-8C62-711CECE5D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5F093F-F030-40BA-9348-1B20A7697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3339E5-796D-455C-8CF4-78D604073C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648CF0-F9A8-4349-BCDA-5D73937F5B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A3425AE-F201-4CE9-B6C8-2D256ACDC6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188D43B-1FFF-4B82-9AA0-29AEAE50FC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3AA381-7A62-4E10-8E2E-B54C44CDD2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C7A68F-7C50-430B-928F-B9CA7FE1E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FE8A4C9-99DF-41BC-8B2D-C28B456151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92EFDB6-234A-47BE-9575-CEFAA2A303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27BB11-464D-4167-8079-FA33E51CBD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B52E345-6E49-479E-9BD9-11B8B1BF62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A1C3BCD-7D4C-4265-BF05-6BD211290C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3262A77-3EE6-4101-9426-96F839F431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AA4A98A-00F9-4689-8391-BB6EE847EC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128014-0F75-4C4A-8ADD-3B27BA23BA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829D9BD-C06F-4664-A2F6-67086FBC9A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08603CA-6159-4BCD-8408-D115757DAB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02C52FA-1DB7-4FCB-B68F-289BFBB47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F36C0E3-FC5E-4355-AE68-2E647BC644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760508-504A-4986-BD7F-3E361D5E4A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8A1B82-1D71-4A97-8547-9291680E2B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2B98871-F95C-40E8-BF29-437470DCDB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4FA4BF9-6EE5-4AF5-B7F5-6E7F3163F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99058B-2224-41F9-941E-289793E9A4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F29CCE9-C51B-412A-B6D8-7DA6479517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F33F8E0-633B-4EC1-ADBC-0519CAD63C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26A0242-CFE1-474F-9452-5CF57934E1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D842F8D-CCC5-44CF-ADE5-96F0025860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7FC0358-BAF1-4B0D-A6A9-BB477AFAD4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C391804-ED1E-49B5-8C85-2A7EC74E1A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DF61ACF-8535-44FD-837D-D78FB1BBCA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D79EAF7-6643-4DC7-9BAC-E2A1FE2E88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00C6E89-2EF6-4DF6-ABDA-716A2C6529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78F7D04-CC07-4C65-887D-BA11704789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CB828F-CF5C-40A7-8ACB-72DD00A0B1D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518DC-DFA6-4D0A-AE93-544E194F13A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0B22F-80EF-4568-AB8E-20863AB9390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3F87AB-36A8-42B6-94DC-6F782C565F1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D3085D-1AF7-4577-B55F-7D3A0B6E4E6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Тестовая программа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ubTitle"/>
          </p:nvPr>
        </p:nvSpPr>
        <p:spPr>
          <a:xfrm>
            <a:off x="6300000" y="5040000"/>
            <a:ext cx="3454200" cy="2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Самойлов Андрей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1980000" y="1172520"/>
            <a:ext cx="5673600" cy="359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-360000"/>
            <a:ext cx="9070200" cy="124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Титульный лист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671400"/>
            <a:ext cx="9070920" cy="490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Титульный лист стр.2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Кратко о программе стр.3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Диаграммы и схемы стр.4-6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входа регистрации стр.7-8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основного меню приложения стр.9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тестирования  стр.10-11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результатов стр.12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редактирования тестов стр.13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Перспективы развития приложения стр.14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Листинг кода стр.15-27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020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Кратко о программе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180000" y="720000"/>
            <a:ext cx="971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Программа для проведения тестирования. Тестовые задания и список пользователей хранится в базе. Также ведется учет каждого прохождения. Программа должна поддерживать различные виды вопросов. Программа делится на две части: редактор тестов, тестовая система. В редакторе тестов создаются тесты, которые хранятся в базе. Каждый тест состоит из набора вопросов. Вопрос содержит произвольное количество вариантов ответов. Тестовая система воспроизводит тесты для пользователей. Пользователь заходит в систему под своим логином и паролем. Результаты заносятся в базу. Разработанное приложение подключается к удаленной базе (SQL Server 2019) и функционирует на основе информации записанной в ней (тесты, пользователи, прохождения).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вариантов использования(USE Case)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1440000" y="491760"/>
            <a:ext cx="7738560" cy="521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-1980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Схема базы данных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3960000" y="-16560"/>
            <a:ext cx="5218560" cy="56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классов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1974240" y="404280"/>
            <a:ext cx="6125040" cy="535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Вход в приложение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181080" y="775080"/>
            <a:ext cx="3418560" cy="282456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3240000" y="1946520"/>
            <a:ext cx="6659640" cy="291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" descr=""/>
          <p:cNvPicPr/>
          <p:nvPr/>
        </p:nvPicPr>
        <p:blipFill>
          <a:blip r:embed="rId1"/>
          <a:stretch/>
        </p:blipFill>
        <p:spPr>
          <a:xfrm>
            <a:off x="6300000" y="720000"/>
            <a:ext cx="3528720" cy="3959640"/>
          </a:xfrm>
          <a:prstGeom prst="rect">
            <a:avLst/>
          </a:prstGeom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2"/>
          <a:stretch/>
        </p:blipFill>
        <p:spPr>
          <a:xfrm>
            <a:off x="180000" y="1933920"/>
            <a:ext cx="6119640" cy="184572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Регистрация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Основное меню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4500000" y="2700000"/>
            <a:ext cx="4423320" cy="2158560"/>
          </a:xfrm>
          <a:prstGeom prst="rect">
            <a:avLst/>
          </a:prstGeom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2"/>
          <a:stretch/>
        </p:blipFill>
        <p:spPr>
          <a:xfrm>
            <a:off x="1440000" y="720000"/>
            <a:ext cx="3974400" cy="193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Прохождение теста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319320" y="420120"/>
            <a:ext cx="9399240" cy="2998440"/>
          </a:xfrm>
          <a:prstGeom prst="rect">
            <a:avLst/>
          </a:prstGeom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2"/>
          <a:stretch/>
        </p:blipFill>
        <p:spPr>
          <a:xfrm>
            <a:off x="4870440" y="1980000"/>
            <a:ext cx="4308120" cy="2878560"/>
          </a:xfrm>
          <a:prstGeom prst="rect">
            <a:avLst/>
          </a:prstGeom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394200" y="3030480"/>
            <a:ext cx="4475880" cy="20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722520" y="1980000"/>
            <a:ext cx="7737120" cy="3433320"/>
          </a:xfrm>
          <a:prstGeom prst="rect">
            <a:avLst/>
          </a:prstGeom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2"/>
          <a:stretch/>
        </p:blipFill>
        <p:spPr>
          <a:xfrm>
            <a:off x="4500000" y="0"/>
            <a:ext cx="4365000" cy="469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Результаты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1620000" y="720000"/>
            <a:ext cx="6884640" cy="383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Редактирование тестов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504000" y="487800"/>
            <a:ext cx="6478560" cy="3650760"/>
          </a:xfrm>
          <a:prstGeom prst="rect">
            <a:avLst/>
          </a:prstGeom>
          <a:ln w="0">
            <a:noFill/>
          </a:ln>
        </p:spPr>
      </p:pic>
      <p:pic>
        <p:nvPicPr>
          <p:cNvPr id="237" name="" descr=""/>
          <p:cNvPicPr/>
          <p:nvPr/>
        </p:nvPicPr>
        <p:blipFill>
          <a:blip r:embed="rId2"/>
          <a:stretch/>
        </p:blipFill>
        <p:spPr>
          <a:xfrm>
            <a:off x="2520000" y="1800000"/>
            <a:ext cx="7161120" cy="30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Перспективы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68360" y="7200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разметки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Добавление графики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Разветвление учебного материала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Разделение приложения на клиентскую и серверную части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8720" y="1270080"/>
            <a:ext cx="9070200" cy="124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0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Вход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0" y="180000"/>
            <a:ext cx="7750440" cy="55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MainWindow.xaml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MainWindow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MainWindow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Enter_Click(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(Log.Text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Pass.Text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(Enter(Log.Text, Pass.Text))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BaseWindow(FindUser(Log.Text, Pass.Text));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все данные"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Reg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RegistrationForm();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Reg.Show();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FindUser(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login,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password)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&amp;&amp; s.Password == password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static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bool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Enter(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login,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password)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 !=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&amp;&amp; s.Password == password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 !=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"Пароль не верный"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"Такого логина нет"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36040" y="-180000"/>
            <a:ext cx="907020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Регистрация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65960" y="134280"/>
            <a:ext cx="9012960" cy="52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RegistrationForm.xaml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RegistrationForm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RegistrationForm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(Log.Text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Pass.Text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Fname.Text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Sname.Text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isTeach.SelectedIndex != -1)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bool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teach;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(isTeach.SelectedIndex == 1) teach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teach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 { Login = Log.Text, Password = Pass.Text, Name = Fname.Text, Surname = Sname.Text, isTeacher =  teach};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Registration(user);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все данные"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       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async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static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Registration(Users 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await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user.Login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s).FirstOrDefaultAsync() ==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db.Users.Add(user);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await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db.SaveChangesAsync();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"Такой логин уже существует"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40000" y="-360000"/>
            <a:ext cx="9070200" cy="124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Основное окно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80000" y="180000"/>
            <a:ext cx="4596120" cy="50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BaseWindow.xaml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BaseWindow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BaseWindow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Redact.IsEnabled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ExitButton_Click(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MainWindow();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Results_Click(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Results(user);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-360000"/>
            <a:ext cx="9070200" cy="124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Тестирование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49920" y="360000"/>
            <a:ext cx="6489000" cy="48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Testing.xaml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testsName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GetTests();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k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Tests.Items.Add(k);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GetTests()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k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testsName.Add(k);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FindTest(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StartTest_Click(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(Tests.SelectedIndex != -1)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Test(user, FindTest(Tests.SelectedItem.ToString()));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"Выберите тест"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>
            <a:off x="180000" y="157680"/>
            <a:ext cx="3238920" cy="54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userAnswers;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_user, Tests _test)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 = _test;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qLine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join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s.QuestionsID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equals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test.ID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b.QustionsLine).FirstOrDefault();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[] qLines = qLine.Split(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questionTexts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answersTexts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ansTypes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qLines.Length;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var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tmp = Convert.ToInt32(qLines[i]);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questionTexts.Add((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x.QuestionText).FirstOrDefault());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answersTexts.Add((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x.AllAnswers).FirstOrDefault());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ansTypes[i]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x.AnswerTypeID).FirstOrDefault();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i);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 + (10 * (i*4)), 10,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but.Content = (i + 1).ToString();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but.Click += (s, e) =&gt; 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40,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questionTexts[Convert.ToInt32(but.Name.Remove(0, 9))];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answersTexts[Convert.ToInt32(but.Name.Remove(0, 9))]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 + (10 * (j * 3)),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229560" y="0"/>
            <a:ext cx="3609360" cy="58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 + (10 * (CAIanswers.Length - 1) * 3),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answersTexts[Convert.ToInt32(but.Name.Remove(0, 9))]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cbox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 + (10 * (j * 3)),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TestGrid.Children.Add(cbox);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 + (10 * (CAIanswers.Length - 1) * 3),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ans.Remove(ans.Length-2,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EndTest_Click(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qLine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join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s.QuestionsID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equals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test.ID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b.QustionsLine).FirstOrDefault();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qLines = qLine.Split(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qLines.Length;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var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tmp = Convert.ToInt32(qLines[i]);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corrAns[i]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s.AnswerLine).FirstOrDefault();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corrAns[i] = corrAns[i].Trim();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correctCount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0;i &lt; corrAns.Length;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(userAnswers[i] == corrAns[i])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correctCount++;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db.CompletedTests.Add(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CompletedTests { UserCompID = user.ID, TestCompID = test.ID, Result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.Format(correctCount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 / 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+ qLines.Length)});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-3420000" y="-529560"/>
            <a:ext cx="9070200" cy="124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Создание теста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80000" y="330120"/>
            <a:ext cx="3723840" cy="38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NewTest.xaml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NewTest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NewTest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List&lt;Question&gt; questionList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List&lt;Question&gt;();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AddQuest_Click(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(12 *(questionList.Count * 3)),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button.Content = questionList.Count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questionList[Convert.ToInt32(button.Name.Remove(0,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questionList[Convert.ToInt32(button.Name.Remove(0,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questionList[Convert.ToInt32(button.Name.Remove(0,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780000" y="-10080"/>
            <a:ext cx="3450600" cy="57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questionList[Convert.ToInt32(button.Name.Remove(0, 9))].AnswerLine))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2*10),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840000" y="180000"/>
            <a:ext cx="3238200" cy="53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>
            <a:off x="0" y="0"/>
            <a:ext cx="3072960" cy="54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questionList[Convert.ToInt32(button.Name.Remove(0,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(Canswers.Contains((j+1).ToString()))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3046320" y="134280"/>
            <a:ext cx="3072960" cy="54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120000" y="134280"/>
            <a:ext cx="3219480" cy="540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(textBox.Text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ansType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button1.Click += (Qs, Qe) =&gt;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 comboBox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ComboBox();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Строка"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Один из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Несколько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>
            <a:off x="180000" y="45000"/>
            <a:ext cx="922320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comboBox.HorizontalAlignment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comboBox.VerticalAlignment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TestGrid.Children.Add(comboBox);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button2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button2.Click += (ATs, ATe)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 = 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)).SelectedIndex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questionText, AnswerTypeID = ansType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textBox_PreviewTextInput(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TextCompositionEventArgs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(!Char.IsDigit(e.Text, 0))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e.Handled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RemoveAll()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DelButton_Click(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(questionList.Count !=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questionList.RemoveAt(questionList.Count - 1);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Create_Click(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(questionList.Count &gt;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questionList)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db.Question.Add(a);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== b)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+= (b.ID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testName.Text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= questionsLine.Remove(questionsLine.Length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 { QustionsLine = questionsLine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db.Tests.Add(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TestName = testName.Text,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QuestionsID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s.QustionsLine == questionsLine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s.ID).FirstOrDefault()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"Создайте хотя бы один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-3312000" y="-40644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Редактирование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5440" y="214560"/>
            <a:ext cx="4083840" cy="50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RedactTest.xaml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RedactTest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List&lt;Question&gt; questionList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List&lt;Question&gt;();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RedactTest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_user, Tests _test)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 = _test;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 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(test.ID== t.ID)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 questionsLine = t.Questions.QustionsLine.Trim();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break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 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[]questionsID =  questionsLine.Split(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questionsID)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q2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(q2.ID.ToString() == q.Trim())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(q2.AnswerTypeID !=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q2.QuestionText.Trim(), AllAnswers = q2.AllAnswers, AnswerLine = q2.AnswerLine.Trim(), AnswerTypeID = q2.AnswerTypeID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questionList.Add(q2);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	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questionList.Count;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i);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(10 * (i * 4)),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but.Content = (i + 1).ToString();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960000" y="-900000"/>
            <a:ext cx="3255840" cy="67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questionList[Convert.ToInt32(but.Name.Remove(0, 9))].AnswerLine.Trim()))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020000" y="0"/>
            <a:ext cx="3211560" cy="56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DejaVu Sans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95760" y="0"/>
            <a:ext cx="3143520" cy="57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 + 1).ToString().Trim()))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226320" y="45360"/>
            <a:ext cx="3072960" cy="56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300000" y="-45360"/>
            <a:ext cx="3769920" cy="56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AddQuest_Click(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(10 * (questionList.Count * 4)),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button.Content = questionList.Count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questionList[Convert.ToInt32(button.Name.Remove(0,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questionList[Convert.ToInt32(button.Name.Remove(0,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questionList[Convert.ToInt32(button.Name.Remove(0,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questionList[Convert.ToInt32(button.Name.Remove(0, 9))].AnswerLine.Trim()))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>
            <a:off x="0" y="45360"/>
            <a:ext cx="3239280" cy="56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060000" y="45360"/>
            <a:ext cx="3072960" cy="56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6133680" y="89640"/>
            <a:ext cx="3072960" cy="55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questionList[Convert.ToInt32(button.Name.Remove(0,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 + 1).ToString().Trim()))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0" y="70200"/>
            <a:ext cx="3239280" cy="55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889720" y="70200"/>
            <a:ext cx="2509560" cy="56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ansType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 comboBox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ComboBox();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Строка"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Один из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Несколько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TestGrid.Children.Add(comboBox);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button2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button2.Click += (ATs, ATe)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 = 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)).SelectedIndex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questionText, AnswerTypeID = ansType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textBox_PreviewTextInput(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TextCompositionEventArgs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(!Char.IsDigit(e.Text, 0))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e.Handled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5400000" y="524520"/>
            <a:ext cx="3239280" cy="46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DejaVu Sans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RemoveAll()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DelButton_Click(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(questionList.Count !=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questionList.RemoveAt(questionList.Count - 1);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Create_Click(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(questionList.Count &gt;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test.ID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x).First();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 q = t.Questions;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questionList)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db.Question.Add(a);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== b)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+= (b.ID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= questionsLine.Remove(questionsLine.Length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q.QustionsLine = questionsLine;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 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(d.TestName == testName.Text)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window1.Show();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testName.Text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t.TestName = testName.Text;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"Создайте хотя бы один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2023-08-24T20:03:46Z</dcterms:created>
  <dc:creator/>
  <dc:description/>
  <dc:language>ru-RU</dc:language>
  <cp:lastModifiedBy/>
  <dcterms:modified xsi:type="dcterms:W3CDTF">2023-08-26T12:34:56Z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