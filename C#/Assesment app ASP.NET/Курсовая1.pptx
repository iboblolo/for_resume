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slide21.xml" ContentType="application/vnd.openxmlformats-officedocument.presentationml.slide+xml"/>
  <Override PartName="/ppt/media/image1.png" ContentType="image/png"/>
  <Override PartName="/ppt/media/image2.jpeg" ContentType="image/jpeg"/>
  <Override PartName="/ppt/media/image12.png" ContentType="image/png"/>
  <Override PartName="/ppt/media/image7.png" ContentType="image/png"/>
  <Override PartName="/ppt/media/image3.png" ContentType="image/png"/>
  <Override PartName="/ppt/media/image4.jpeg" ContentType="image/jpeg"/>
  <Override PartName="/ppt/media/image18.png" ContentType="image/png"/>
  <Override PartName="/ppt/media/image10.png" ContentType="image/png"/>
  <Override PartName="/ppt/media/image5.png" ContentType="image/png"/>
  <Override PartName="/ppt/media/image6.png" ContentType="image/png"/>
  <Override PartName="/ppt/media/image11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C3769F-9203-4C41-99CD-F0D59A2B76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155E09F-165F-494C-B7E8-D6E054C6A2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6A2A76-2B71-4882-8B6C-7B91585795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513E3E-619D-4BD2-A769-2AAFD1693A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D5C3C8-9294-4AE0-9D2E-2B9C44ACC5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74160"/>
            <a:ext cx="907164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D142D4-5351-4C2A-80C0-8C0FA8516C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D14BF0-2206-42AA-B6B2-9CCBAC0B20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20C70F-DB63-46E8-B2BC-D1D71314D0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E5ADF2-7F22-44B9-80CF-374AC4BF8C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233ACC-092B-4B89-B39C-BC2F8EB3E7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578C859-3B97-4833-85DD-44ED7FE60A7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DC4BC7-8224-4D3F-9EA9-F15C3ED5F4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8493BEB-3A91-46AB-97B5-4C8A10352D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7D6E0D1-36AD-49A6-94B0-574985063B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69D2E71-2F9D-4A19-99AC-3AFD3DF2B2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5BCF019-BCF6-40AA-BF99-D83EE38A51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614521E-3EB9-49DB-9F5F-CA0DF54202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74160"/>
            <a:ext cx="907164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472CE92-2405-4909-BA7B-3826C07C56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FBE3F15-C758-49B6-B662-54EE5FE8AD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6B5FE42-B196-4579-AD69-EB5CF7E69D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9456AC2-7E37-4A3C-B18F-443D88E3F7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1C6E880-6FA5-4F81-BF05-AE1CD2B06C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DB958C-1ECF-48A8-9CCB-C4CFECBF066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A379C2D-8D19-4A1B-8742-002A91FB8E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75AD999-4457-47F8-9A3C-D1862DF72C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0C7FE6A-01BE-4C71-85F8-CA5E25F31D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8A59A14-6569-4281-B342-5BBC23A703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6FF9A22-A820-41F1-8F80-36C759A28C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2591683-AF88-468A-8BCC-1117F7C368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504000" y="74160"/>
            <a:ext cx="907164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30EA484-4116-4EEC-ACB9-6FDDEF06D8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1B4EFF2-58C2-4BE1-B1B8-A1CB6EB59C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80C58D1-F98E-474A-9730-B2BB2AEAF4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FE7389F-C316-45D1-BBFD-9D62628A14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4548F61-E4F3-43BD-804E-63A5C2BC78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905C232-9A53-4476-B83C-03B0E935C8A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ED1219F-D42E-4E61-A0B1-E6FEF484D1C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BA84C45-1832-4445-854C-9291357D86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14E63C8-54EB-4FA0-BCEF-B6D730348E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6738E5A-A0F2-4117-99C8-3B21B77810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79EB810-D832-4B65-862F-CF85F155CD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A7EA647-305D-44F4-8F1A-532EF49116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504000" y="74160"/>
            <a:ext cx="907164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159D286-7C51-4443-96E9-09754C1AA1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501C7DF-116B-4135-AEC4-5983F31E61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E31F8AC-117F-4B35-9DA0-1D49A4ACA5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BD78A67-2EFD-41A9-9239-E0BA4B450E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E0B2ECB-04F8-4F28-97FE-0E35739DEE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573E4A9-A406-4982-A775-6A132BFBE7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CAC6C31-6199-46CA-86A7-DE3181B8423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550ACA-43F0-4F21-A64E-1236F9B3C56F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5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D814C7-ABB4-4CD0-950B-8B174DA0CFCB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8521F8-95F3-40BC-A175-88DCF6DF3871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C46E1E-D9A1-49BB-8477-E5EE00DD6630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ubTitle"/>
          </p:nvPr>
        </p:nvSpPr>
        <p:spPr>
          <a:xfrm>
            <a:off x="6300000" y="5040000"/>
            <a:ext cx="3453480" cy="2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Самойлов Андрей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1059840" y="720000"/>
            <a:ext cx="7399440" cy="4334400"/>
          </a:xfrm>
          <a:prstGeom prst="rect">
            <a:avLst/>
          </a:prstGeom>
          <a:ln w="0">
            <a:noFill/>
          </a:ln>
        </p:spPr>
      </p:pic>
      <p:sp>
        <p:nvSpPr>
          <p:cNvPr id="166" name="PlaceHolder 2"/>
          <p:cNvSpPr>
            <a:spLocks noGrp="1"/>
          </p:cNvSpPr>
          <p:nvPr>
            <p:ph type="title"/>
          </p:nvPr>
        </p:nvSpPr>
        <p:spPr>
          <a:xfrm>
            <a:off x="504000" y="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Тестовое веб приложение 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04000" y="-360000"/>
            <a:ext cx="9069480" cy="124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Титульный лист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504000" y="671400"/>
            <a:ext cx="9070200" cy="490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Титульный лист стр.2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Кратко о приложении стр.3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Диаграммы и схемы стр.4-6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входа, регистрации стр.7-10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добавления нового пользователя стр.11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основного меню приложения стр.12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тестирования  стр.13-15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результатов стр.16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добавления тестов стр.17-19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Перспективы развития приложения стр.20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850"/>
              </a:spcBef>
              <a:buNone/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850"/>
              </a:spcBef>
              <a:buNone/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504000" y="-180000"/>
            <a:ext cx="9069480" cy="124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Кратко о программе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180000" y="720000"/>
            <a:ext cx="971856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Microsoft YaHei"/>
              </a:rPr>
              <a:t>	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Программа для проведения тестирования. Тестовые задания и список пользователей хранится в базе. Также ведется учет каждого прохождения. Программа должна поддерживать различные виды вопросов. Программа делится на две части: редактор тестов, тестовая система. В редакторе тестов создаются тесты, которые хранятся в базе. Каждый тест состоит из набора вопросов. Вопрос содержит произвольное количество вариантов ответов. Тестовая система воспроизводит тесты для пользователей. Пользователь заходит в систему под своим логином и паролем. Результаты заносятся в базу. Разработанное приложение подключается к удаленной базе (SQL Server 2019) и функционирует на основе информации записанной в ней (тесты, пользователи, прохождения).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Диаграмма вариантов использования(USE Case)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" descr=""/>
          <p:cNvPicPr/>
          <p:nvPr/>
        </p:nvPicPr>
        <p:blipFill>
          <a:blip r:embed="rId1"/>
          <a:stretch/>
        </p:blipFill>
        <p:spPr>
          <a:xfrm>
            <a:off x="1080000" y="450720"/>
            <a:ext cx="7740720" cy="521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540000" y="-1800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Схема базы данных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" name="" descr=""/>
          <p:cNvPicPr/>
          <p:nvPr/>
        </p:nvPicPr>
        <p:blipFill>
          <a:blip r:embed="rId1"/>
          <a:stretch/>
        </p:blipFill>
        <p:spPr>
          <a:xfrm>
            <a:off x="93240" y="1104840"/>
            <a:ext cx="9905760" cy="350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tretch/>
        </p:blipFill>
        <p:spPr>
          <a:xfrm>
            <a:off x="720000" y="360"/>
            <a:ext cx="8534160" cy="5670360"/>
          </a:xfrm>
          <a:prstGeom prst="rect">
            <a:avLst/>
          </a:prstGeom>
          <a:ln w="0">
            <a:noFill/>
          </a:ln>
        </p:spPr>
      </p:pic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Диаграмма классов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Вход в приложение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" descr=""/>
          <p:cNvPicPr/>
          <p:nvPr/>
        </p:nvPicPr>
        <p:blipFill>
          <a:blip r:embed="rId1"/>
          <a:stretch/>
        </p:blipFill>
        <p:spPr>
          <a:xfrm>
            <a:off x="360000" y="789120"/>
            <a:ext cx="4452840" cy="3350880"/>
          </a:xfrm>
          <a:prstGeom prst="rect">
            <a:avLst/>
          </a:prstGeom>
          <a:ln w="0">
            <a:noFill/>
          </a:ln>
        </p:spPr>
      </p:pic>
      <p:pic>
        <p:nvPicPr>
          <p:cNvPr id="179" name="" descr=""/>
          <p:cNvPicPr/>
          <p:nvPr/>
        </p:nvPicPr>
        <p:blipFill>
          <a:blip r:embed="rId2"/>
          <a:stretch/>
        </p:blipFill>
        <p:spPr>
          <a:xfrm>
            <a:off x="5400000" y="720000"/>
            <a:ext cx="3780000" cy="382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5"/>
          <p:cNvSpPr txBox="1"/>
          <p:nvPr/>
        </p:nvSpPr>
        <p:spPr>
          <a:xfrm>
            <a:off x="504360" y="-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Вход в приложение: контроллер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1"/>
          <a:srcRect l="0" t="0" r="8884" b="0"/>
          <a:stretch/>
        </p:blipFill>
        <p:spPr>
          <a:xfrm>
            <a:off x="1800000" y="900000"/>
            <a:ext cx="6300000" cy="405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3"/>
          <p:cNvSpPr/>
          <p:nvPr/>
        </p:nvSpPr>
        <p:spPr>
          <a:xfrm>
            <a:off x="470520" y="-18000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Регистрация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" descr=""/>
          <p:cNvPicPr/>
          <p:nvPr/>
        </p:nvPicPr>
        <p:blipFill>
          <a:blip r:embed="rId1"/>
          <a:stretch/>
        </p:blipFill>
        <p:spPr>
          <a:xfrm>
            <a:off x="540000" y="968400"/>
            <a:ext cx="4303080" cy="2991600"/>
          </a:xfrm>
          <a:prstGeom prst="rect">
            <a:avLst/>
          </a:prstGeom>
          <a:ln w="0">
            <a:noFill/>
          </a:ln>
        </p:spPr>
      </p:pic>
      <p:pic>
        <p:nvPicPr>
          <p:cNvPr id="184" name="" descr=""/>
          <p:cNvPicPr/>
          <p:nvPr/>
        </p:nvPicPr>
        <p:blipFill>
          <a:blip r:embed="rId2"/>
          <a:stretch/>
        </p:blipFill>
        <p:spPr>
          <a:xfrm>
            <a:off x="5400000" y="900000"/>
            <a:ext cx="3960000" cy="39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900000" y="1561680"/>
            <a:ext cx="7812360" cy="3478320"/>
          </a:xfrm>
          <a:prstGeom prst="rect">
            <a:avLst/>
          </a:prstGeom>
          <a:ln w="0">
            <a:noFill/>
          </a:ln>
        </p:spPr>
      </p:pic>
      <p:sp>
        <p:nvSpPr>
          <p:cNvPr id="186" name="PlaceHolder 6"/>
          <p:cNvSpPr/>
          <p:nvPr/>
        </p:nvSpPr>
        <p:spPr>
          <a:xfrm>
            <a:off x="470520" y="-18000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Регистрация: контроллер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4"/>
          <p:cNvSpPr/>
          <p:nvPr/>
        </p:nvSpPr>
        <p:spPr>
          <a:xfrm>
            <a:off x="180000" y="-18000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Добавление нового пользователя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" descr=""/>
          <p:cNvPicPr/>
          <p:nvPr/>
        </p:nvPicPr>
        <p:blipFill>
          <a:blip r:embed="rId1"/>
          <a:stretch/>
        </p:blipFill>
        <p:spPr>
          <a:xfrm>
            <a:off x="469800" y="702720"/>
            <a:ext cx="8779680" cy="430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Основное меню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" descr=""/>
          <p:cNvPicPr/>
          <p:nvPr/>
        </p:nvPicPr>
        <p:blipFill>
          <a:blip r:embed="rId1"/>
          <a:stretch/>
        </p:blipFill>
        <p:spPr>
          <a:xfrm>
            <a:off x="180000" y="360000"/>
            <a:ext cx="9719280" cy="343440"/>
          </a:xfrm>
          <a:prstGeom prst="rect">
            <a:avLst/>
          </a:prstGeom>
          <a:ln w="0">
            <a:noFill/>
          </a:ln>
        </p:spPr>
      </p:pic>
      <p:pic>
        <p:nvPicPr>
          <p:cNvPr id="191" name="" descr=""/>
          <p:cNvPicPr/>
          <p:nvPr/>
        </p:nvPicPr>
        <p:blipFill>
          <a:blip r:embed="rId2"/>
          <a:stretch/>
        </p:blipFill>
        <p:spPr>
          <a:xfrm>
            <a:off x="1620000" y="868680"/>
            <a:ext cx="6694920" cy="570600"/>
          </a:xfrm>
          <a:prstGeom prst="rect">
            <a:avLst/>
          </a:prstGeom>
          <a:ln w="0">
            <a:noFill/>
          </a:ln>
        </p:spPr>
      </p:pic>
      <p:pic>
        <p:nvPicPr>
          <p:cNvPr id="192" name="" descr=""/>
          <p:cNvPicPr/>
          <p:nvPr/>
        </p:nvPicPr>
        <p:blipFill>
          <a:blip r:embed="rId3"/>
          <a:stretch/>
        </p:blipFill>
        <p:spPr>
          <a:xfrm>
            <a:off x="3420000" y="1440000"/>
            <a:ext cx="2899080" cy="377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Прохождение теста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" descr=""/>
          <p:cNvPicPr/>
          <p:nvPr/>
        </p:nvPicPr>
        <p:blipFill>
          <a:blip r:embed="rId1"/>
          <a:stretch/>
        </p:blipFill>
        <p:spPr>
          <a:xfrm>
            <a:off x="635400" y="540000"/>
            <a:ext cx="3324600" cy="4460040"/>
          </a:xfrm>
          <a:prstGeom prst="rect">
            <a:avLst/>
          </a:prstGeom>
          <a:ln w="0">
            <a:noFill/>
          </a:ln>
        </p:spPr>
      </p:pic>
      <p:pic>
        <p:nvPicPr>
          <p:cNvPr id="195" name="" descr=""/>
          <p:cNvPicPr/>
          <p:nvPr/>
        </p:nvPicPr>
        <p:blipFill>
          <a:blip r:embed="rId2"/>
          <a:stretch/>
        </p:blipFill>
        <p:spPr>
          <a:xfrm>
            <a:off x="4447080" y="589680"/>
            <a:ext cx="4912920" cy="427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" descr=""/>
          <p:cNvPicPr/>
          <p:nvPr/>
        </p:nvPicPr>
        <p:blipFill>
          <a:blip r:embed="rId1"/>
          <a:stretch/>
        </p:blipFill>
        <p:spPr>
          <a:xfrm>
            <a:off x="180000" y="3060000"/>
            <a:ext cx="4904280" cy="1646640"/>
          </a:xfrm>
          <a:prstGeom prst="rect">
            <a:avLst/>
          </a:prstGeom>
          <a:ln w="0">
            <a:noFill/>
          </a:ln>
        </p:spPr>
      </p:pic>
      <p:pic>
        <p:nvPicPr>
          <p:cNvPr id="197" name="" descr=""/>
          <p:cNvPicPr/>
          <p:nvPr/>
        </p:nvPicPr>
        <p:blipFill>
          <a:blip r:embed="rId2"/>
          <a:stretch/>
        </p:blipFill>
        <p:spPr>
          <a:xfrm>
            <a:off x="5293080" y="540000"/>
            <a:ext cx="4606920" cy="4772520"/>
          </a:xfrm>
          <a:prstGeom prst="rect">
            <a:avLst/>
          </a:prstGeom>
          <a:ln w="0">
            <a:noFill/>
          </a:ln>
        </p:spPr>
      </p:pic>
      <p:pic>
        <p:nvPicPr>
          <p:cNvPr id="198" name="" descr=""/>
          <p:cNvPicPr/>
          <p:nvPr/>
        </p:nvPicPr>
        <p:blipFill>
          <a:blip r:embed="rId3"/>
          <a:stretch/>
        </p:blipFill>
        <p:spPr>
          <a:xfrm>
            <a:off x="2160000" y="1186560"/>
            <a:ext cx="2608920" cy="1513440"/>
          </a:xfrm>
          <a:prstGeom prst="rect">
            <a:avLst/>
          </a:prstGeom>
          <a:ln w="0">
            <a:noFill/>
          </a:ln>
        </p:spPr>
      </p:pic>
      <p:sp>
        <p:nvSpPr>
          <p:cNvPr id="199" name="PlaceHolder 7"/>
          <p:cNvSpPr txBox="1"/>
          <p:nvPr/>
        </p:nvSpPr>
        <p:spPr>
          <a:xfrm>
            <a:off x="504360" y="-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Прохождение теста: представление и модель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" descr=""/>
          <p:cNvPicPr/>
          <p:nvPr/>
        </p:nvPicPr>
        <p:blipFill>
          <a:blip r:embed="rId1"/>
          <a:srcRect l="0" t="0" r="0" b="3502"/>
          <a:stretch/>
        </p:blipFill>
        <p:spPr>
          <a:xfrm>
            <a:off x="1792440" y="540000"/>
            <a:ext cx="6667560" cy="4950000"/>
          </a:xfrm>
          <a:prstGeom prst="rect">
            <a:avLst/>
          </a:prstGeom>
          <a:ln w="0">
            <a:noFill/>
          </a:ln>
        </p:spPr>
      </p:pic>
      <p:sp>
        <p:nvSpPr>
          <p:cNvPr id="201" name="PlaceHolder 8"/>
          <p:cNvSpPr txBox="1"/>
          <p:nvPr/>
        </p:nvSpPr>
        <p:spPr>
          <a:xfrm>
            <a:off x="504720" y="-22572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Прохождение теста: контроллер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504000" y="-1800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Результаты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1"/>
          <a:stretch/>
        </p:blipFill>
        <p:spPr>
          <a:xfrm>
            <a:off x="399960" y="1092600"/>
            <a:ext cx="8959680" cy="286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" descr=""/>
          <p:cNvPicPr/>
          <p:nvPr/>
        </p:nvPicPr>
        <p:blipFill>
          <a:blip r:embed="rId1"/>
          <a:stretch/>
        </p:blipFill>
        <p:spPr>
          <a:xfrm>
            <a:off x="1097280" y="92880"/>
            <a:ext cx="4842720" cy="5306760"/>
          </a:xfrm>
          <a:prstGeom prst="rect">
            <a:avLst/>
          </a:prstGeom>
          <a:ln w="0">
            <a:noFill/>
          </a:ln>
        </p:spPr>
      </p:pic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Добавление тестов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9"/>
          <p:cNvSpPr txBox="1"/>
          <p:nvPr/>
        </p:nvSpPr>
        <p:spPr>
          <a:xfrm>
            <a:off x="504360" y="-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Добавление тестов: представление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" descr=""/>
          <p:cNvPicPr/>
          <p:nvPr/>
        </p:nvPicPr>
        <p:blipFill>
          <a:blip r:embed="rId1"/>
          <a:stretch/>
        </p:blipFill>
        <p:spPr>
          <a:xfrm>
            <a:off x="1542600" y="540000"/>
            <a:ext cx="6917400" cy="4888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" descr=""/>
          <p:cNvPicPr/>
          <p:nvPr/>
        </p:nvPicPr>
        <p:blipFill>
          <a:blip r:embed="rId1"/>
          <a:stretch/>
        </p:blipFill>
        <p:spPr>
          <a:xfrm>
            <a:off x="400680" y="900000"/>
            <a:ext cx="8419320" cy="1260000"/>
          </a:xfrm>
          <a:prstGeom prst="rect">
            <a:avLst/>
          </a:prstGeom>
          <a:ln w="0">
            <a:noFill/>
          </a:ln>
        </p:spPr>
      </p:pic>
      <p:pic>
        <p:nvPicPr>
          <p:cNvPr id="209" name="" descr=""/>
          <p:cNvPicPr/>
          <p:nvPr/>
        </p:nvPicPr>
        <p:blipFill>
          <a:blip r:embed="rId2"/>
          <a:stretch/>
        </p:blipFill>
        <p:spPr>
          <a:xfrm>
            <a:off x="1128960" y="2340000"/>
            <a:ext cx="7151040" cy="2880000"/>
          </a:xfrm>
          <a:prstGeom prst="rect">
            <a:avLst/>
          </a:prstGeom>
          <a:ln w="0">
            <a:noFill/>
          </a:ln>
        </p:spPr>
      </p:pic>
      <p:sp>
        <p:nvSpPr>
          <p:cNvPr id="210" name="PlaceHolder 10"/>
          <p:cNvSpPr txBox="1"/>
          <p:nvPr/>
        </p:nvSpPr>
        <p:spPr>
          <a:xfrm>
            <a:off x="504720" y="-22572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Добавление тестов: представление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Перспективы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68360" y="7200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Улучшение разметки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Добавление графики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Добавление редактирования тестов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Улучшить удобство в использовании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Улучшение базы данных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40000" y="193356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Спасибо за внимание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</TotalTime>
  <Application>LibreOffice/7.5.1.2$Windows_X86_64 LibreOffice_project/fcbaee479e84c6cd81291587d2ee68cba099e129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2023-08-24T20:03:46Z</dcterms:created>
  <dc:creator/>
  <dc:description/>
  <dc:language>ru-RU</dc:language>
  <cp:lastModifiedBy/>
  <dcterms:modified xsi:type="dcterms:W3CDTF">2023-12-08T21:41:48Z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